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«Вектор» — прототип семантического поиска по видеолекциям. Главная идея: пользователь ищет смысл, а не точные слова, и сразу попадает на нужную секунду.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Боль: видеолекции длинные, а поиск обычно лексический. Нужен инструмент, который понимает смысл и сразу ведёт к моменту.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Вся цепочка автоматическая: загрузка, ASR, эмбеддинги, структура, поиск. Ключевой результат — переход к моменту, а не список файлов.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Главная страница показывает ценность сразу: живой семантический пример, статистику и библиотеку.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Загрузка поддерживает видео, аудио и ссылки. Валидация и превью — на стороне сервера. Файлы лежат вне SQLite, видео отдаётся с поддержкой Range.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Собственный плеер: клик по тексту перематывает, активная реплика подсвечивается. Ссылка ?t=302 открывает лекцию ровно на нужном моменте.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Конспект и главы строятся локально. На слайде — один и тот же экран в двух вкладках. Всё можно скачать: Markdown, VTT, SRT.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Главный вау-момент: запрос «как учится нейросеть» находит фразу «сеть учится на данных». Слова «нейросеть» в тексте нет — работает смысловой индекс.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 отвечает по расшифровке и даёт цитаты. Без LLM это экстрактивный ответ, с LLM — более гладкий текст, но опора всё равно на найденные фрагменты.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Архитектура намеренно простая: один процесс FastAPI, SQLite и файловое хранилище. Очередь обработки — ThreadPool с прогрессом в БД. Всё работает офлайн.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Тесты нашли четыре реальных дефекта — все исправлены. Пятый, горизонтальный скролл на мобильном поиске, обнаружился при ручной проверке вёрстки. Один skipped — дымовой тест настоящего Whisper, включается переменной VECTOR_SLOW_TESTS=1.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Диагностика снимает страх «а оно точно работает?». Видно состояние моделей, ffmpeg и очереди.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Мобильная проверка выявила горизонтальный скролл на странице поиска. Исправлено в CSS. Сейчас 390 px: библиотека, лекция и поиск без переполнения.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Итог: все пункты приёмки закрыты. Запуск одной командой, полностью локально. Дальше — GPU, многопользовательский режим и интеграция с LMS.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F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777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8F560"/>
                </a:solidFill>
                <a:latin typeface="Segoe UI"/>
              </a:rPr>
              <a:t>КИБЕРРЫВОК · ОСЕНЬ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78992"/>
            <a:ext cx="8229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7800" b="1" i="0">
                <a:solidFill>
                  <a:srgbClr val="F1F4EC"/>
                </a:solidFill>
                <a:latin typeface="Segoe UI"/>
              </a:rPr>
              <a:t>Вектор</a:t>
            </a:r>
            <a:r>
              <a:rPr sz="7800" b="1" i="0">
                <a:solidFill>
                  <a:srgbClr val="C8F560"/>
                </a:solidFill>
                <a:latin typeface="Segoe U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487168"/>
            <a:ext cx="8778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0" i="1">
                <a:solidFill>
                  <a:srgbClr val="F1F4EC"/>
                </a:solidFill>
                <a:latin typeface="Cambria"/>
              </a:rPr>
              <a:t>Найдите момент, а не таймкод.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310128"/>
            <a:ext cx="7315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9AA394"/>
                </a:solidFill>
                <a:latin typeface="Segoe UI"/>
              </a:rPr>
              <a:t>Семантический поиск по видеолекциям: загрузка, расшифровка, конспект, структура и переход к нужной секунде по смыслу запроса.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452628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10140F"/>
          </a:solidFill>
          <a:ln w="12700">
            <a:solidFill>
              <a:srgbClr val="2B3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3" y="4581144"/>
            <a:ext cx="1143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C8F560"/>
                </a:solidFill>
                <a:latin typeface="Segoe UI"/>
              </a:rPr>
              <a:t>FastAPI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95728" y="4526280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10140F"/>
          </a:solidFill>
          <a:ln w="12700">
            <a:solidFill>
              <a:srgbClr val="2B3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42032" y="4581144"/>
            <a:ext cx="16916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C8F560"/>
                </a:solidFill>
                <a:latin typeface="Segoe UI"/>
              </a:rPr>
              <a:t>faster-whisper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4526280"/>
            <a:ext cx="2240280" cy="310896"/>
          </a:xfrm>
          <a:prstGeom prst="roundRect">
            <a:avLst>
              <a:gd name="adj" fmla="val 50000"/>
            </a:avLst>
          </a:prstGeom>
          <a:solidFill>
            <a:srgbClr val="10140F"/>
          </a:solidFill>
          <a:ln w="12700">
            <a:solidFill>
              <a:srgbClr val="2B3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4581144"/>
            <a:ext cx="1965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C8F560"/>
                </a:solidFill>
                <a:latin typeface="Segoe UI"/>
              </a:rPr>
              <a:t>potion-multilingual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39712" y="4526280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0140F"/>
          </a:solidFill>
          <a:ln w="12700">
            <a:solidFill>
              <a:srgbClr val="2B3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86016" y="4581144"/>
            <a:ext cx="868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C8F560"/>
                </a:solidFill>
                <a:latin typeface="Segoe UI"/>
              </a:rPr>
              <a:t>SQLite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6053328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F786A"/>
                </a:solidFill>
                <a:latin typeface="Segoe UI"/>
              </a:rPr>
              <a:t>Полностью локальный прототип · без обязательных API-ключей · запуск одной командой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20" y="59893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2B3327"/>
                </a:solidFill>
                <a:latin typeface="Segoe U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9601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C8F560"/>
                </a:solidFill>
                <a:latin typeface="Segoe UI"/>
              </a:rPr>
              <a:t>ПРОБЛЕМА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100" b="1" i="0">
                <a:solidFill>
                  <a:srgbClr val="F1F4EC"/>
                </a:solidFill>
                <a:latin typeface="Segoe UI"/>
              </a:rPr>
              <a:t>Лекция длится час. Нужная мысль — 40 секунд.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61872"/>
            <a:ext cx="104241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9AA394"/>
                </a:solidFill>
                <a:latin typeface="Segoe UI"/>
              </a:rPr>
              <a:t>Искать по таймкоду, субтитрам и названиям глав — долго. Конспект приходится писать вручную.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3493008" cy="1481328"/>
          </a:xfrm>
          <a:prstGeom prst="roundRect">
            <a:avLst>
              <a:gd name="adj" fmla="val 6000"/>
            </a:avLst>
          </a:prstGeom>
          <a:solidFill>
            <a:srgbClr val="10140F"/>
          </a:solidFill>
          <a:ln w="12700">
            <a:solidFill>
              <a:srgbClr val="2B3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1371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C8F560"/>
                </a:solidFill>
                <a:latin typeface="Segoe UI"/>
              </a:rPr>
              <a:t>90+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239572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1F4EC"/>
                </a:solidFill>
                <a:latin typeface="Segoe UI"/>
              </a:rPr>
              <a:t>минут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97180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AA394"/>
                </a:solidFill>
                <a:latin typeface="Segoe UI"/>
              </a:rPr>
              <a:t>средняя видеолекция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3128" y="2057400"/>
            <a:ext cx="3493008" cy="1481328"/>
          </a:xfrm>
          <a:prstGeom prst="roundRect">
            <a:avLst>
              <a:gd name="adj" fmla="val 6000"/>
            </a:avLst>
          </a:prstGeom>
          <a:solidFill>
            <a:srgbClr val="10140F"/>
          </a:solidFill>
          <a:ln w="12700">
            <a:solidFill>
              <a:srgbClr val="2B3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2240280"/>
            <a:ext cx="1371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C8F560"/>
                </a:solidFill>
                <a:latin typeface="Segoe UI"/>
              </a:rPr>
              <a:t>~15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7608" y="239572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1F4EC"/>
                </a:solidFill>
                <a:latin typeface="Segoe UI"/>
              </a:rPr>
              <a:t>минут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297180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AA394"/>
                </a:solidFill>
                <a:latin typeface="Segoe UI"/>
              </a:rPr>
              <a:t>на ручной поиск фрагмента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0456" y="2057400"/>
            <a:ext cx="3493008" cy="1481328"/>
          </a:xfrm>
          <a:prstGeom prst="roundRect">
            <a:avLst>
              <a:gd name="adj" fmla="val 6000"/>
            </a:avLst>
          </a:prstGeom>
          <a:solidFill>
            <a:srgbClr val="10140F"/>
          </a:solidFill>
          <a:ln w="12700">
            <a:solidFill>
              <a:srgbClr val="2B3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94776" y="2240280"/>
            <a:ext cx="1371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C8F560"/>
                </a:solidFill>
                <a:latin typeface="Segoe UI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74936" y="239572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1F4EC"/>
                </a:solidFill>
                <a:latin typeface="Segoe UI"/>
              </a:rPr>
              <a:t>систем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94776" y="297180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AA394"/>
                </a:solidFill>
                <a:latin typeface="Segoe UI"/>
              </a:rPr>
              <a:t>ищут по смыслу, а не по словам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93192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1F4EC"/>
                </a:solidFill>
                <a:latin typeface="Segoe UI"/>
              </a:rPr>
              <a:t>Что не работает сегодня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370832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400" b="1">
                <a:solidFill>
                  <a:srgbClr val="F1F4EC"/>
                </a:solidFill>
                <a:latin typeface="Segoe UI"/>
              </a:rPr>
              <a:t>Поиск по словам. </a:t>
            </a:r>
            <a:r>
              <a:rPr sz="1400">
                <a:solidFill>
                  <a:srgbClr val="9AA394"/>
                </a:solidFill>
                <a:latin typeface="Segoe UI"/>
              </a:rPr>
              <a:t>«как учится нейросеть» не находит «сеть учится на данных».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400" b="1">
                <a:solidFill>
                  <a:srgbClr val="F1F4EC"/>
                </a:solidFill>
                <a:latin typeface="Segoe UI"/>
              </a:rPr>
              <a:t>Ручная навигация. </a:t>
            </a:r>
            <a:r>
              <a:rPr sz="1400">
                <a:solidFill>
                  <a:srgbClr val="9AA394"/>
                </a:solidFill>
                <a:latin typeface="Segoe UI"/>
              </a:rPr>
              <a:t>студент перематывает видео, чтобы проверить одну цитату.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400" b="1">
                <a:solidFill>
                  <a:srgbClr val="F1F4EC"/>
                </a:solidFill>
                <a:latin typeface="Segoe UI"/>
              </a:rPr>
              <a:t>Нет структуры. </a:t>
            </a:r>
            <a:r>
              <a:rPr sz="1400">
                <a:solidFill>
                  <a:srgbClr val="9AA394"/>
                </a:solidFill>
                <a:latin typeface="Segoe UI"/>
              </a:rPr>
              <a:t>конспект, главы и термины приходится собирать вручную.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6446520"/>
            <a:ext cx="10817352" cy="9144"/>
          </a:xfrm>
          <a:prstGeom prst="rect">
            <a:avLst/>
          </a:prstGeom>
          <a:solidFill>
            <a:srgbClr val="2B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651052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F786A"/>
                </a:solidFill>
                <a:latin typeface="Segoe UI"/>
              </a:rPr>
              <a:t>Вектор · семантический поиск по видеолекциям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510528"/>
            <a:ext cx="126187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F786A"/>
                </a:solidFill>
                <a:latin typeface="Segoe UI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9601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C8F560"/>
                </a:solidFill>
                <a:latin typeface="Segoe UI"/>
              </a:rPr>
              <a:t>РЕШЕНИЕ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100" b="1" i="0">
                <a:solidFill>
                  <a:srgbClr val="F1F4EC"/>
                </a:solidFill>
                <a:latin typeface="Segoe UI"/>
              </a:rPr>
              <a:t>Один путь: от файла до нужной секунды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61872"/>
            <a:ext cx="104241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9AA394"/>
                </a:solidFill>
                <a:latin typeface="Segoe UI"/>
              </a:rPr>
              <a:t>Четыре шага, без ручной разметки, субтитров и облачных сервисов.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2487168" cy="2926080"/>
          </a:xfrm>
          <a:prstGeom prst="roundRect">
            <a:avLst>
              <a:gd name="adj" fmla="val 6000"/>
            </a:avLst>
          </a:prstGeom>
          <a:solidFill>
            <a:srgbClr val="10140F"/>
          </a:solidFill>
          <a:ln w="12700">
            <a:solidFill>
              <a:srgbClr val="2B3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185415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1">
                <a:solidFill>
                  <a:srgbClr val="6F786A"/>
                </a:solidFill>
                <a:latin typeface="Cambr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752344"/>
            <a:ext cx="19751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1F4EC"/>
                </a:solidFill>
                <a:latin typeface="Segoe UI"/>
              </a:rPr>
              <a:t>Загрузка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118104"/>
            <a:ext cx="1975104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9AA394"/>
                </a:solidFill>
                <a:latin typeface="Segoe UI"/>
              </a:rPr>
              <a:t>MP4, WebM, MOV или ссылка YouTube / Vimeo. Файл остаётся на вашем сервере.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9544" y="315468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C8F560"/>
                </a:solidFill>
                <a:latin typeface="Segoe U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965960"/>
            <a:ext cx="2487168" cy="2926080"/>
          </a:xfrm>
          <a:prstGeom prst="roundRect">
            <a:avLst>
              <a:gd name="adj" fmla="val 6000"/>
            </a:avLst>
          </a:prstGeom>
          <a:solidFill>
            <a:srgbClr val="10140F"/>
          </a:solidFill>
          <a:ln w="12700">
            <a:solidFill>
              <a:srgbClr val="2B3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30752" y="2185415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1">
                <a:solidFill>
                  <a:srgbClr val="6F786A"/>
                </a:solidFill>
                <a:latin typeface="Cambr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0752" y="2752344"/>
            <a:ext cx="19751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1F4EC"/>
                </a:solidFill>
                <a:latin typeface="Segoe UI"/>
              </a:rPr>
              <a:t>Расшифровка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0752" y="3118104"/>
            <a:ext cx="1975104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9AA394"/>
                </a:solidFill>
                <a:latin typeface="Segoe UI"/>
              </a:rPr>
              <a:t>Whisper распознаёт речь, расставляет таймкоды и слова. Язык — автоматически.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98464" y="315468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C8F560"/>
                </a:solidFill>
                <a:latin typeface="Segoe U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965960"/>
            <a:ext cx="2487168" cy="2926080"/>
          </a:xfrm>
          <a:prstGeom prst="roundRect">
            <a:avLst>
              <a:gd name="adj" fmla="val 6000"/>
            </a:avLst>
          </a:prstGeom>
          <a:solidFill>
            <a:srgbClr val="10140F"/>
          </a:solidFill>
          <a:ln w="12700">
            <a:solidFill>
              <a:srgbClr val="2B3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672" y="2185415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1">
                <a:solidFill>
                  <a:srgbClr val="6F786A"/>
                </a:solidFill>
                <a:latin typeface="Cambria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2752344"/>
            <a:ext cx="19751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1F4EC"/>
                </a:solidFill>
                <a:latin typeface="Segoe UI"/>
              </a:rPr>
              <a:t>Индексация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3118104"/>
            <a:ext cx="1975104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9AA394"/>
                </a:solidFill>
                <a:latin typeface="Segoe UI"/>
              </a:rPr>
              <a:t>model2vec считает векторы реплик. TextRank собирает конспект, главы и термины.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87384" y="315468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C8F560"/>
                </a:solidFill>
                <a:latin typeface="Segoe U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59" y="1965960"/>
            <a:ext cx="2487168" cy="2926080"/>
          </a:xfrm>
          <a:prstGeom prst="roundRect">
            <a:avLst>
              <a:gd name="adj" fmla="val 6000"/>
            </a:avLst>
          </a:prstGeom>
          <a:solidFill>
            <a:srgbClr val="10140F"/>
          </a:solidFill>
          <a:ln w="12700">
            <a:solidFill>
              <a:srgbClr val="2B3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08591" y="2185415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1">
                <a:solidFill>
                  <a:srgbClr val="C8F560"/>
                </a:solidFill>
                <a:latin typeface="Cambr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8591" y="2752344"/>
            <a:ext cx="19751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1F4EC"/>
                </a:solidFill>
                <a:latin typeface="Segoe UI"/>
              </a:rPr>
              <a:t>Поиск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8591" y="3118104"/>
            <a:ext cx="1975104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9AA394"/>
                </a:solidFill>
                <a:latin typeface="Segoe UI"/>
              </a:rPr>
              <a:t>Запрос на естественном языке → фрагмент, таймкод и переход в плеере.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285232"/>
            <a:ext cx="10817352" cy="713232"/>
          </a:xfrm>
          <a:prstGeom prst="roundRect">
            <a:avLst>
              <a:gd name="adj" fmla="val 8000"/>
            </a:avLst>
          </a:prstGeom>
          <a:solidFill>
            <a:srgbClr val="151A13"/>
          </a:solidFill>
          <a:ln w="12700">
            <a:solidFill>
              <a:srgbClr val="2B3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468112"/>
            <a:ext cx="10378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8F560"/>
                </a:solidFill>
                <a:latin typeface="Segoe UI"/>
              </a:rPr>
              <a:t>Результат: </a:t>
            </a:r>
            <a:r>
              <a:rPr sz="1400" b="0" i="0">
                <a:solidFill>
                  <a:srgbClr val="F1F4EC"/>
                </a:solidFill>
                <a:latin typeface="Segoe UI"/>
              </a:rPr>
              <a:t>студент задаёт вопрос по-человечески и оказывается на нужной секунде за один клик.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6446520"/>
            <a:ext cx="10817352" cy="9144"/>
          </a:xfrm>
          <a:prstGeom prst="rect">
            <a:avLst/>
          </a:prstGeom>
          <a:solidFill>
            <a:srgbClr val="2B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651052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F786A"/>
                </a:solidFill>
                <a:latin typeface="Segoe UI"/>
              </a:rPr>
              <a:t>Вектор · семантический поиск по видеолекциям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6510528"/>
            <a:ext cx="126187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F786A"/>
                </a:solidFill>
                <a:latin typeface="Segoe UI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9601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C8F560"/>
                </a:solidFill>
                <a:latin typeface="Segoe UI"/>
              </a:rPr>
              <a:t>ИНТЕРФЕЙС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100" b="1" i="0">
                <a:solidFill>
                  <a:srgbClr val="F1F4EC"/>
                </a:solidFill>
                <a:latin typeface="Segoe UI"/>
              </a:rPr>
              <a:t>Библиотека и живой поиск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61872"/>
            <a:ext cx="104241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9AA394"/>
                </a:solidFill>
                <a:latin typeface="Segoe UI"/>
              </a:rPr>
              <a:t>Сразу видно, что уже готово к поиску: лекции, часы, фрагменты и главы.</a:t>
            </a:r>
          </a:p>
        </p:txBody>
      </p:sp>
      <p:pic>
        <p:nvPicPr>
          <p:cNvPr id="5" name="Picture 4" descr="01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691640"/>
            <a:ext cx="7315200" cy="457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60520" y="1691640"/>
            <a:ext cx="7315200" cy="4572000"/>
          </a:xfrm>
          <a:prstGeom prst="rect">
            <a:avLst/>
          </a:prstGeom>
          <a:noFill/>
          <a:ln w="9525">
            <a:solidFill>
              <a:srgbClr val="2B3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60520" y="6336792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F786A"/>
                </a:solidFill>
                <a:latin typeface="Segoe UI"/>
              </a:rPr>
              <a:t>Главная страница: герой, живой семантический пример и библиотека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1F4EC"/>
                </a:solidFill>
                <a:latin typeface="Segoe UI"/>
              </a:rPr>
              <a:t>Что на экране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4028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50">
                <a:solidFill>
                  <a:srgbClr val="9AA394"/>
                </a:solidFill>
                <a:latin typeface="Segoe UI"/>
              </a:rPr>
              <a:t>—  2 демо-лекции, 131 фрагмент, 12 глав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50">
                <a:solidFill>
                  <a:srgbClr val="9AA394"/>
                </a:solidFill>
                <a:latin typeface="Segoe UI"/>
              </a:rPr>
              <a:t>—  поиск по всему курсу из шапки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50">
                <a:solidFill>
                  <a:srgbClr val="9AA394"/>
                </a:solidFill>
                <a:latin typeface="Segoe UI"/>
              </a:rPr>
              <a:t>—  загрузка и импорт по ссылке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50">
                <a:solidFill>
                  <a:srgbClr val="9AA394"/>
                </a:solidFill>
                <a:latin typeface="Segoe UI"/>
              </a:rPr>
              <a:t>—  редакторский тёмный интерфейс без сборки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160520"/>
            <a:ext cx="3246120" cy="960120"/>
          </a:xfrm>
          <a:prstGeom prst="roundRect">
            <a:avLst>
              <a:gd name="adj" fmla="val 8000"/>
            </a:avLst>
          </a:prstGeom>
          <a:solidFill>
            <a:srgbClr val="10140F"/>
          </a:solidFill>
          <a:ln w="12700">
            <a:solidFill>
              <a:srgbClr val="2B3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315968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AA394"/>
                </a:solidFill>
                <a:latin typeface="Segoe UI"/>
              </a:rPr>
              <a:t>«Откройте момент» — каждая карточка результата ведёт на таймкод.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6446520"/>
            <a:ext cx="10817352" cy="9144"/>
          </a:xfrm>
          <a:prstGeom prst="rect">
            <a:avLst/>
          </a:prstGeom>
          <a:solidFill>
            <a:srgbClr val="2B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51052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F786A"/>
                </a:solidFill>
                <a:latin typeface="Segoe UI"/>
              </a:rPr>
              <a:t>Вектор · семантический поиск по видеолекциям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510528"/>
            <a:ext cx="126187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F786A"/>
                </a:solidFill>
                <a:latin typeface="Segoe UI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9601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C8F560"/>
                </a:solidFill>
                <a:latin typeface="Segoe UI"/>
              </a:rPr>
              <a:t>ЗАГРУЗКА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100" b="1" i="0">
                <a:solidFill>
                  <a:srgbClr val="F1F4EC"/>
                </a:solidFill>
                <a:latin typeface="Segoe UI"/>
              </a:rPr>
              <a:t>Файл или ссылка — дальше без ручной работы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61872"/>
            <a:ext cx="104241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9AA394"/>
                </a:solidFill>
                <a:latin typeface="Segoe UI"/>
              </a:rPr>
              <a:t>Очередь, прогресс и статусы: «В очереди → Обработка → Готово».</a:t>
            </a:r>
          </a:p>
        </p:txBody>
      </p:sp>
      <p:pic>
        <p:nvPicPr>
          <p:cNvPr id="5" name="Picture 4" descr="07-up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691640"/>
            <a:ext cx="7315200" cy="457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60520" y="1691640"/>
            <a:ext cx="7315200" cy="4572000"/>
          </a:xfrm>
          <a:prstGeom prst="rect">
            <a:avLst/>
          </a:prstGeom>
          <a:noFill/>
          <a:ln w="9525">
            <a:solidFill>
              <a:srgbClr val="2B3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60520" y="6336792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F786A"/>
                </a:solidFill>
                <a:latin typeface="Segoe UI"/>
              </a:rPr>
              <a:t>Модальное окно загрузки: файл или ссылка, название и язык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1F4EC"/>
                </a:solidFill>
                <a:latin typeface="Segoe UI"/>
              </a:rPr>
              <a:t>Поддерживается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4028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50" b="1">
                <a:solidFill>
                  <a:srgbClr val="F1F4EC"/>
                </a:solidFill>
                <a:latin typeface="Segoe UI"/>
              </a:rPr>
              <a:t>Видео: </a:t>
            </a:r>
            <a:r>
              <a:rPr sz="1250">
                <a:solidFill>
                  <a:srgbClr val="9AA394"/>
                </a:solidFill>
                <a:latin typeface="Segoe UI"/>
              </a:rPr>
              <a:t>MP4, WebM, MOV, MKV, M4V, AVI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50" b="1">
                <a:solidFill>
                  <a:srgbClr val="F1F4EC"/>
                </a:solidFill>
                <a:latin typeface="Segoe UI"/>
              </a:rPr>
              <a:t>Аудио: </a:t>
            </a:r>
            <a:r>
              <a:rPr sz="1250">
                <a:solidFill>
                  <a:srgbClr val="9AA394"/>
                </a:solidFill>
                <a:latin typeface="Segoe UI"/>
              </a:rPr>
              <a:t>MP3, M4A, WAV, OGG, OPUS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50" b="1">
                <a:solidFill>
                  <a:srgbClr val="F1F4EC"/>
                </a:solidFill>
                <a:latin typeface="Segoe UI"/>
              </a:rPr>
              <a:t>Ссылки: </a:t>
            </a:r>
            <a:r>
              <a:rPr sz="1250">
                <a:solidFill>
                  <a:srgbClr val="9AA394"/>
                </a:solidFill>
                <a:latin typeface="Segoe UI"/>
              </a:rPr>
              <a:t>YouTube и Vimeo через yt-dlp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50" b="1">
                <a:solidFill>
                  <a:srgbClr val="F1F4EC"/>
                </a:solidFill>
                <a:latin typeface="Segoe UI"/>
              </a:rPr>
              <a:t>Проверка: </a:t>
            </a:r>
            <a:r>
              <a:rPr sz="1250">
                <a:solidFill>
                  <a:srgbClr val="9AA394"/>
                </a:solidFill>
                <a:latin typeface="Segoe UI"/>
              </a:rPr>
              <a:t>ffprobe, длительность, кодек, превью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50" b="1">
                <a:solidFill>
                  <a:srgbClr val="F1F4EC"/>
                </a:solidFill>
                <a:latin typeface="Segoe UI"/>
              </a:rPr>
              <a:t>Хранение: </a:t>
            </a:r>
            <a:r>
              <a:rPr sz="1250">
                <a:solidFill>
                  <a:srgbClr val="9AA394"/>
                </a:solidFill>
                <a:latin typeface="Segoe UI"/>
              </a:rPr>
              <a:t>файлы вне БД, отдача с HTTP Range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6446520"/>
            <a:ext cx="10817352" cy="9144"/>
          </a:xfrm>
          <a:prstGeom prst="rect">
            <a:avLst/>
          </a:prstGeom>
          <a:solidFill>
            <a:srgbClr val="2B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51052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F786A"/>
                </a:solidFill>
                <a:latin typeface="Segoe UI"/>
              </a:rPr>
              <a:t>Вектор · семантический поиск по видеолекциям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510528"/>
            <a:ext cx="126187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F786A"/>
                </a:solidFill>
                <a:latin typeface="Segoe UI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9601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C8F560"/>
                </a:solidFill>
                <a:latin typeface="Segoe UI"/>
              </a:rPr>
              <a:t>ПРОСМОТР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100" b="1" i="0">
                <a:solidFill>
                  <a:srgbClr val="F1F4EC"/>
                </a:solidFill>
                <a:latin typeface="Segoe UI"/>
              </a:rPr>
              <a:t>Плеер, который понимает текст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61872"/>
            <a:ext cx="104241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9AA394"/>
                </a:solidFill>
                <a:latin typeface="Segoe UI"/>
              </a:rPr>
              <a:t>Расшифровка, субтитры и главы синхронизированы с видео.</a:t>
            </a:r>
          </a:p>
        </p:txBody>
      </p:sp>
      <p:pic>
        <p:nvPicPr>
          <p:cNvPr id="5" name="Picture 4" descr="03-l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691640"/>
            <a:ext cx="7315200" cy="457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60520" y="1691640"/>
            <a:ext cx="7315200" cy="4572000"/>
          </a:xfrm>
          <a:prstGeom prst="rect">
            <a:avLst/>
          </a:prstGeom>
          <a:noFill/>
          <a:ln w="9525">
            <a:solidFill>
              <a:srgbClr val="2B3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60520" y="6336792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F786A"/>
                </a:solidFill>
                <a:latin typeface="Segoe UI"/>
              </a:rPr>
              <a:t>Лекция открыта на 05:02: плеер, главы, термины и действия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1F4EC"/>
                </a:solidFill>
                <a:latin typeface="Segoe UI"/>
              </a:rPr>
              <a:t>Навигация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4028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50">
                <a:solidFill>
                  <a:srgbClr val="9AA394"/>
                </a:solidFill>
                <a:latin typeface="Segoe UI"/>
              </a:rPr>
              <a:t>—  клик по реплике перематывает видео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50">
                <a:solidFill>
                  <a:srgbClr val="9AA394"/>
                </a:solidFill>
                <a:latin typeface="Segoe UI"/>
              </a:rPr>
              <a:t>—  активная реплика подсвечивается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50">
                <a:solidFill>
                  <a:srgbClr val="9AA394"/>
                </a:solidFill>
                <a:latin typeface="Segoe UI"/>
              </a:rPr>
              <a:t>—  субтитры VTT поверх видео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50">
                <a:solidFill>
                  <a:srgbClr val="9AA394"/>
                </a:solidFill>
                <a:latin typeface="Segoe UI"/>
              </a:rPr>
              <a:t>—  маркеры глав и результатов на таймлайне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50">
                <a:solidFill>
                  <a:srgbClr val="9AA394"/>
                </a:solidFill>
                <a:latin typeface="Segoe UI"/>
              </a:rPr>
              <a:t>—  deep link ?t=302 и «поделиться моментом»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773168"/>
            <a:ext cx="3246120" cy="658368"/>
          </a:xfrm>
          <a:prstGeom prst="roundRect">
            <a:avLst>
              <a:gd name="adj" fmla="val 8000"/>
            </a:avLst>
          </a:prstGeom>
          <a:solidFill>
            <a:srgbClr val="10140F"/>
          </a:solidFill>
          <a:ln w="12700">
            <a:solidFill>
              <a:srgbClr val="2B3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901184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9AA394"/>
                </a:solidFill>
                <a:latin typeface="Segoe UI"/>
              </a:rPr>
              <a:t>Скорость, звук, ±10 секунд, fullscreen — без внешнего плеера.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6446520"/>
            <a:ext cx="10817352" cy="9144"/>
          </a:xfrm>
          <a:prstGeom prst="rect">
            <a:avLst/>
          </a:prstGeom>
          <a:solidFill>
            <a:srgbClr val="2B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51052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F786A"/>
                </a:solidFill>
                <a:latin typeface="Segoe UI"/>
              </a:rPr>
              <a:t>Вектор · семантический поиск по видеолекциям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510528"/>
            <a:ext cx="126187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F786A"/>
                </a:solidFill>
                <a:latin typeface="Segoe UI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9601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C8F560"/>
                </a:solidFill>
                <a:latin typeface="Segoe UI"/>
              </a:rPr>
              <a:t>КОНСПЕКТ И СТРУКТУРА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100" b="1" i="0">
                <a:solidFill>
                  <a:srgbClr val="F1F4EC"/>
                </a:solidFill>
                <a:latin typeface="Segoe UI"/>
              </a:rPr>
              <a:t>Лекция сама становится оглавлением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61872"/>
            <a:ext cx="104241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9AA394"/>
                </a:solidFill>
                <a:latin typeface="Segoe UI"/>
              </a:rPr>
              <a:t>Экстрактивный конспект, ключевые тезисы с таймкодами и автоматические главы.</a:t>
            </a:r>
          </a:p>
        </p:txBody>
      </p:sp>
      <p:pic>
        <p:nvPicPr>
          <p:cNvPr id="5" name="Picture 4" descr="04a-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64208"/>
            <a:ext cx="5047488" cy="3154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85800" y="1664208"/>
            <a:ext cx="5047488" cy="3154680"/>
          </a:xfrm>
          <a:prstGeom prst="rect">
            <a:avLst/>
          </a:prstGeom>
          <a:noFill/>
          <a:ln w="9525">
            <a:solidFill>
              <a:srgbClr val="2B3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4b-chapt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664208"/>
            <a:ext cx="5047488" cy="31546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272784" y="1664208"/>
            <a:ext cx="5047488" cy="3154680"/>
          </a:xfrm>
          <a:prstGeom prst="rect">
            <a:avLst/>
          </a:prstGeom>
          <a:noFill/>
          <a:ln w="9525">
            <a:solidFill>
              <a:srgbClr val="2B3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892040"/>
            <a:ext cx="5230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F786A"/>
                </a:solidFill>
                <a:latin typeface="Segoe UI"/>
              </a:rPr>
              <a:t>Конспект: главная мысль и ключевые тезисы с таймкодами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2784" y="4892040"/>
            <a:ext cx="5230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F786A"/>
                </a:solidFill>
                <a:latin typeface="Segoe UI"/>
              </a:rPr>
              <a:t>Структура: главы, названия и переходы к началу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230368"/>
            <a:ext cx="1081735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9AA394"/>
                </a:solidFill>
                <a:latin typeface="Segoe UI"/>
              </a:rPr>
              <a:t>TextRank + семантические сдвиги: без ручной разметки и без обязательного LLM. Экспорт конспекта — в Markdown, субтитры — в VTT/SRT.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6446520"/>
            <a:ext cx="10817352" cy="9144"/>
          </a:xfrm>
          <a:prstGeom prst="rect">
            <a:avLst/>
          </a:prstGeom>
          <a:solidFill>
            <a:srgbClr val="2B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51052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F786A"/>
                </a:solidFill>
                <a:latin typeface="Segoe UI"/>
              </a:rPr>
              <a:t>Вектор · семантический поиск по видеолекциям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510528"/>
            <a:ext cx="126187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F786A"/>
                </a:solidFill>
                <a:latin typeface="Segoe UI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9601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C8F560"/>
                </a:solidFill>
                <a:latin typeface="Segoe UI"/>
              </a:rPr>
              <a:t>СЕМАНТИЧЕСКИЙ ПОИСК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100" b="1" i="0">
                <a:solidFill>
                  <a:srgbClr val="F1F4EC"/>
                </a:solidFill>
                <a:latin typeface="Segoe UI"/>
              </a:rPr>
              <a:t>Находит смысл, даже когда слов нет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61872"/>
            <a:ext cx="104241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9AA394"/>
                </a:solidFill>
                <a:latin typeface="Segoe UI"/>
              </a:rPr>
              <a:t>Гибрид dense + BM25 + покрытие запроса + MMR-диверсификация.</a:t>
            </a:r>
          </a:p>
        </p:txBody>
      </p:sp>
      <p:pic>
        <p:nvPicPr>
          <p:cNvPr id="5" name="Picture 4" descr="05-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691640"/>
            <a:ext cx="7315200" cy="457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11880" y="1691640"/>
            <a:ext cx="7315200" cy="4572000"/>
          </a:xfrm>
          <a:prstGeom prst="rect">
            <a:avLst/>
          </a:prstGeom>
          <a:noFill/>
          <a:ln w="9525">
            <a:solidFill>
              <a:srgbClr val="2B3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6336792"/>
            <a:ext cx="7909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F786A"/>
                </a:solidFill>
                <a:latin typeface="Segoe UI"/>
              </a:rPr>
              <a:t>Запрос «как учится нейросеть» → 06:20, 5 фрагментов, 79 мс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2697480" cy="1298448"/>
          </a:xfrm>
          <a:prstGeom prst="roundRect">
            <a:avLst>
              <a:gd name="adj" fmla="val 8000"/>
            </a:avLst>
          </a:prstGeom>
          <a:solidFill>
            <a:srgbClr val="10140F"/>
          </a:solidFill>
          <a:ln w="12700">
            <a:solidFill>
              <a:srgbClr val="2B3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920240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C8F560"/>
                </a:solidFill>
                <a:latin typeface="Segoe UI"/>
              </a:rPr>
              <a:t>ЗАПРОС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212848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F1F4EC"/>
                </a:solidFill>
                <a:latin typeface="Segoe UI"/>
              </a:rPr>
              <a:t>«как учится нейросеть»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246120"/>
            <a:ext cx="2697480" cy="1298448"/>
          </a:xfrm>
          <a:prstGeom prst="roundRect">
            <a:avLst>
              <a:gd name="adj" fmla="val 8000"/>
            </a:avLst>
          </a:prstGeom>
          <a:solidFill>
            <a:srgbClr val="10140F"/>
          </a:solidFill>
          <a:ln w="12700">
            <a:solidFill>
              <a:srgbClr val="2B3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3383280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C8F560"/>
                </a:solidFill>
                <a:latin typeface="Segoe UI"/>
              </a:rPr>
              <a:t>НАЙДЕНО НА 06:20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675887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F1F4EC"/>
                </a:solidFill>
                <a:latin typeface="Segoe UI"/>
              </a:rPr>
              <a:t>«Так сеть постепенно уменьшает ошибку и учится на данных»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773168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50">
                <a:solidFill>
                  <a:srgbClr val="9AA394"/>
                </a:solidFill>
                <a:latin typeface="Segoe UI"/>
              </a:rPr>
              <a:t>—  слова «нейросеть» в тексте нет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50">
                <a:solidFill>
                  <a:srgbClr val="9AA394"/>
                </a:solidFill>
                <a:latin typeface="Segoe UI"/>
              </a:rPr>
              <a:t>—  каждый результат — таймкод и сниппет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50">
                <a:solidFill>
                  <a:srgbClr val="9AA394"/>
                </a:solidFill>
                <a:latin typeface="Segoe UI"/>
              </a:rPr>
              <a:t>—  фильтр по лекции или весь курс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6446520"/>
            <a:ext cx="10817352" cy="9144"/>
          </a:xfrm>
          <a:prstGeom prst="rect">
            <a:avLst/>
          </a:prstGeom>
          <a:solidFill>
            <a:srgbClr val="2B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51052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F786A"/>
                </a:solidFill>
                <a:latin typeface="Segoe UI"/>
              </a:rPr>
              <a:t>Вектор · семантический поиск по видеолекциям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6510528"/>
            <a:ext cx="126187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F786A"/>
                </a:solidFill>
                <a:latin typeface="Segoe UI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9601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C8F560"/>
                </a:solidFill>
                <a:latin typeface="Segoe UI"/>
              </a:rPr>
              <a:t>ВОПРОС-ОТВЕТ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100" b="1" i="0">
                <a:solidFill>
                  <a:srgbClr val="F1F4EC"/>
                </a:solidFill>
                <a:latin typeface="Segoe UI"/>
              </a:rPr>
              <a:t>Ответ с цитатами, а не пересказ без источника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61872"/>
            <a:ext cx="104241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9AA394"/>
                </a:solidFill>
                <a:latin typeface="Segoe UI"/>
              </a:rPr>
              <a:t>RAG по расшифровке: офлайн-экстрактивный режим или любой OpenAI-совместимый LLM.</a:t>
            </a:r>
          </a:p>
        </p:txBody>
      </p:sp>
      <p:pic>
        <p:nvPicPr>
          <p:cNvPr id="5" name="Picture 4" descr="06-q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1691640"/>
            <a:ext cx="7315200" cy="457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977639" y="1691640"/>
            <a:ext cx="7315200" cy="4572000"/>
          </a:xfrm>
          <a:prstGeom prst="rect">
            <a:avLst/>
          </a:prstGeom>
          <a:noFill/>
          <a:ln w="9525">
            <a:solidFill>
              <a:srgbClr val="2B3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77639" y="6336792"/>
            <a:ext cx="7543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F786A"/>
                </a:solidFill>
                <a:latin typeface="Segoe UI"/>
              </a:rPr>
              <a:t>Вопрос по лекции → ответ и цитаты с таймкодами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1F4EC"/>
                </a:solidFill>
                <a:latin typeface="Segoe UI"/>
              </a:rPr>
              <a:t>Как это работает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4028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>
                <a:solidFill>
                  <a:srgbClr val="9AA394"/>
                </a:solidFill>
                <a:latin typeface="Segoe UI"/>
              </a:rPr>
              <a:t>—  вопрос → поиск релевантных реплик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>
                <a:solidFill>
                  <a:srgbClr val="9AA394"/>
                </a:solidFill>
                <a:latin typeface="Segoe UI"/>
              </a:rPr>
              <a:t>—  ответ только по расшифровке лекции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>
                <a:solidFill>
                  <a:srgbClr val="9AA394"/>
                </a:solidFill>
                <a:latin typeface="Segoe UI"/>
              </a:rPr>
              <a:t>—  у каждой мысли — номер и таймкод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>
                <a:solidFill>
                  <a:srgbClr val="9AA394"/>
                </a:solidFill>
                <a:latin typeface="Segoe UI"/>
              </a:rPr>
              <a:t>—  без LLM — экстрактивный режим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>
                <a:solidFill>
                  <a:srgbClr val="9AA394"/>
                </a:solidFill>
                <a:latin typeface="Segoe UI"/>
              </a:rPr>
              <a:t>—  с LLM — формулировки, но те же цитаты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526280"/>
            <a:ext cx="3063240" cy="932688"/>
          </a:xfrm>
          <a:prstGeom prst="roundRect">
            <a:avLst>
              <a:gd name="adj" fmla="val 8000"/>
            </a:avLst>
          </a:prstGeom>
          <a:solidFill>
            <a:srgbClr val="10140F"/>
          </a:solidFill>
          <a:ln w="12700">
            <a:solidFill>
              <a:srgbClr val="2B3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4645152"/>
            <a:ext cx="274320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9AA394"/>
                </a:solidFill>
                <a:latin typeface="Segoe UI"/>
              </a:rPr>
              <a:t>Ответ не выходит за пределы лекции: меньше галлюцинаций и понятная проверка.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6446520"/>
            <a:ext cx="10817352" cy="9144"/>
          </a:xfrm>
          <a:prstGeom prst="rect">
            <a:avLst/>
          </a:prstGeom>
          <a:solidFill>
            <a:srgbClr val="2B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51052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F786A"/>
                </a:solidFill>
                <a:latin typeface="Segoe UI"/>
              </a:rPr>
              <a:t>Вектор · семантический поиск по видеолекциям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510528"/>
            <a:ext cx="126187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F786A"/>
                </a:solidFill>
                <a:latin typeface="Segoe UI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9601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C8F560"/>
                </a:solidFill>
                <a:latin typeface="Segoe UI"/>
              </a:rPr>
              <a:t>АРХИТЕКТУРА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100" b="1" i="0">
                <a:solidFill>
                  <a:srgbClr val="F1F4EC"/>
                </a:solidFill>
                <a:latin typeface="Segoe UI"/>
              </a:rPr>
              <a:t>Всё локально, без облака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61872"/>
            <a:ext cx="104241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9AA394"/>
                </a:solidFill>
                <a:latin typeface="Segoe UI"/>
              </a:rPr>
              <a:t>SPA без сборки, FastAPI, SQLite WAL, файловое хранилище и одна очередь обработки.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10817352" cy="621792"/>
          </a:xfrm>
          <a:prstGeom prst="roundRect">
            <a:avLst>
              <a:gd name="adj" fmla="val 8000"/>
            </a:avLst>
          </a:prstGeom>
          <a:solidFill>
            <a:srgbClr val="10140F"/>
          </a:solidFill>
          <a:ln w="12700">
            <a:solidFill>
              <a:srgbClr val="2B3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38528"/>
            <a:ext cx="10332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1F4EC"/>
                </a:solidFill>
                <a:latin typeface="Segoe UI"/>
              </a:rPr>
              <a:t>Браузер · SPA на ES-модулях · History API · Range и VTT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25328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C8F560"/>
                </a:solidFill>
                <a:latin typeface="Segoe UI"/>
              </a:rP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834640"/>
            <a:ext cx="10817352" cy="621792"/>
          </a:xfrm>
          <a:prstGeom prst="roundRect">
            <a:avLst>
              <a:gd name="adj" fmla="val 8000"/>
            </a:avLst>
          </a:prstGeom>
          <a:solidFill>
            <a:srgbClr val="151A13"/>
          </a:solidFill>
          <a:ln w="12700">
            <a:solidFill>
              <a:srgbClr val="2B3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90088"/>
            <a:ext cx="10332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1F4EC"/>
                </a:solidFill>
                <a:latin typeface="Segoe UI"/>
              </a:rPr>
              <a:t>FastAPI · API, безопасные заголовки, gzip, стриминг, SPA fallback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794760"/>
            <a:ext cx="3429000" cy="1572768"/>
          </a:xfrm>
          <a:prstGeom prst="roundRect">
            <a:avLst>
              <a:gd name="adj" fmla="val 6000"/>
            </a:avLst>
          </a:prstGeom>
          <a:solidFill>
            <a:srgbClr val="10140F"/>
          </a:solidFill>
          <a:ln w="12700">
            <a:solidFill>
              <a:srgbClr val="2B3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3950208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8F560"/>
                </a:solidFill>
                <a:latin typeface="Segoe UI"/>
              </a:rPr>
              <a:t>Хранилище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4297680"/>
            <a:ext cx="2971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AA394"/>
                </a:solidFill>
                <a:latin typeface="Segoe UI"/>
              </a:rPr>
              <a:t>·  SQLite WAL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4535424"/>
            <a:ext cx="2971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AA394"/>
                </a:solidFill>
                <a:latin typeface="Segoe UI"/>
              </a:rPr>
              <a:t>·  медиа и аудио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4773168"/>
            <a:ext cx="2971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AA394"/>
                </a:solidFill>
                <a:latin typeface="Segoe UI"/>
              </a:rPr>
              <a:t>·  float32-векторы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5010912"/>
            <a:ext cx="2971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AA394"/>
                </a:solidFill>
                <a:latin typeface="Segoe UI"/>
              </a:rPr>
              <a:t>·  кэш индекса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794760"/>
            <a:ext cx="3429000" cy="1572768"/>
          </a:xfrm>
          <a:prstGeom prst="roundRect">
            <a:avLst>
              <a:gd name="adj" fmla="val 6000"/>
            </a:avLst>
          </a:prstGeom>
          <a:solidFill>
            <a:srgbClr val="10140F"/>
          </a:solidFill>
          <a:ln w="12700">
            <a:solidFill>
              <a:srgbClr val="2B3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08576" y="3950208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8F560"/>
                </a:solidFill>
                <a:latin typeface="Segoe UI"/>
              </a:rPr>
              <a:t>Обработка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4297680"/>
            <a:ext cx="2971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AA394"/>
                </a:solidFill>
                <a:latin typeface="Segoe UI"/>
              </a:rPr>
              <a:t>·  ffmpeg / ffprobe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4535424"/>
            <a:ext cx="2971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AA394"/>
                </a:solidFill>
                <a:latin typeface="Segoe UI"/>
              </a:rPr>
              <a:t>·  faster-whisper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4773168"/>
            <a:ext cx="2971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AA394"/>
                </a:solidFill>
                <a:latin typeface="Segoe UI"/>
              </a:rPr>
              <a:t>·  model2vec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5010912"/>
            <a:ext cx="2971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AA394"/>
                </a:solidFill>
                <a:latin typeface="Segoe UI"/>
              </a:rPr>
              <a:t>·  TextRank / главы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3794760"/>
            <a:ext cx="3429000" cy="1572768"/>
          </a:xfrm>
          <a:prstGeom prst="roundRect">
            <a:avLst>
              <a:gd name="adj" fmla="val 6000"/>
            </a:avLst>
          </a:prstGeom>
          <a:solidFill>
            <a:srgbClr val="10140F"/>
          </a:solidFill>
          <a:ln w="12700">
            <a:solidFill>
              <a:srgbClr val="2B3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11896" y="3950208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8F560"/>
                </a:solidFill>
                <a:latin typeface="Segoe UI"/>
              </a:rPr>
              <a:t>Поиск и ответы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1896" y="4297680"/>
            <a:ext cx="2971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AA394"/>
                </a:solidFill>
                <a:latin typeface="Segoe UI"/>
              </a:rPr>
              <a:t>·  dense + BM25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1896" y="4535424"/>
            <a:ext cx="2971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AA394"/>
                </a:solidFill>
                <a:latin typeface="Segoe UI"/>
              </a:rPr>
              <a:t>·  MMR-диверсификация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1896" y="4773168"/>
            <a:ext cx="2971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AA394"/>
                </a:solidFill>
                <a:latin typeface="Segoe UI"/>
              </a:rPr>
              <a:t>·  RAG с цитатами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1896" y="5010912"/>
            <a:ext cx="2971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AA394"/>
                </a:solidFill>
                <a:latin typeface="Segoe UI"/>
              </a:rPr>
              <a:t>·  VTT / SRT / Markdown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669280"/>
            <a:ext cx="108173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F786A"/>
                </a:solidFill>
                <a:latin typeface="Segoe UI"/>
              </a:rPr>
              <a:t>Модели: faster-whisper-small + potion-multilingual-128M. После первой загрузки интернет не нужен.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6446520"/>
            <a:ext cx="10817352" cy="9144"/>
          </a:xfrm>
          <a:prstGeom prst="rect">
            <a:avLst/>
          </a:prstGeom>
          <a:solidFill>
            <a:srgbClr val="2B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651052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F786A"/>
                </a:solidFill>
                <a:latin typeface="Segoe UI"/>
              </a:rPr>
              <a:t>Вектор · семантический поиск по видеолекциям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6510528"/>
            <a:ext cx="126187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F786A"/>
                </a:solidFill>
                <a:latin typeface="Segoe U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9601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C8F560"/>
                </a:solidFill>
                <a:latin typeface="Segoe UI"/>
              </a:rPr>
              <a:t>ИНЖЕНЕРИЯ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100" b="1" i="0">
                <a:solidFill>
                  <a:srgbClr val="F1F4EC"/>
                </a:solidFill>
                <a:latin typeface="Segoe UI"/>
              </a:rPr>
              <a:t>Качество подтверждено тестами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61872"/>
            <a:ext cx="104241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9AA394"/>
                </a:solidFill>
                <a:latin typeface="Segoe UI"/>
              </a:rPr>
              <a:t>157 тестов: unit, API, пайплайн и реальная загрузка до статуса ready.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2505456" cy="1261872"/>
          </a:xfrm>
          <a:prstGeom prst="roundRect">
            <a:avLst>
              <a:gd name="adj" fmla="val 6000"/>
            </a:avLst>
          </a:prstGeom>
          <a:solidFill>
            <a:srgbClr val="10140F"/>
          </a:solidFill>
          <a:ln w="12700">
            <a:solidFill>
              <a:srgbClr val="2B3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920240"/>
            <a:ext cx="1371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C8F560"/>
                </a:solidFill>
                <a:latin typeface="Segoe UI"/>
              </a:rPr>
              <a:t>156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84248" y="2011680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1F4EC"/>
                </a:solidFill>
                <a:latin typeface="Segoe UI"/>
              </a:rPr>
              <a:t>passed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487168"/>
            <a:ext cx="2103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394"/>
                </a:solidFill>
                <a:latin typeface="Segoe UI"/>
              </a:rPr>
              <a:t>зелёный прогон pytest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783080"/>
            <a:ext cx="2505456" cy="1261872"/>
          </a:xfrm>
          <a:prstGeom prst="roundRect">
            <a:avLst>
              <a:gd name="adj" fmla="val 6000"/>
            </a:avLst>
          </a:prstGeom>
          <a:solidFill>
            <a:srgbClr val="10140F"/>
          </a:solidFill>
          <a:ln w="12700">
            <a:solidFill>
              <a:srgbClr val="2B3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1920240"/>
            <a:ext cx="1371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C8F560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2011680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1F4EC"/>
                </a:solidFill>
                <a:latin typeface="Segoe UI"/>
              </a:rPr>
              <a:t>skipped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2487168"/>
            <a:ext cx="2103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394"/>
                </a:solidFill>
                <a:latin typeface="Segoe UI"/>
              </a:rPr>
              <a:t>только реальный Whisper smoke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783080"/>
            <a:ext cx="2505456" cy="1261872"/>
          </a:xfrm>
          <a:prstGeom prst="roundRect">
            <a:avLst>
              <a:gd name="adj" fmla="val 6000"/>
            </a:avLst>
          </a:prstGeom>
          <a:solidFill>
            <a:srgbClr val="10140F"/>
          </a:solidFill>
          <a:ln w="12700">
            <a:solidFill>
              <a:srgbClr val="2B3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920240"/>
            <a:ext cx="1371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C8F560"/>
                </a:solidFill>
                <a:latin typeface="Segoe UI"/>
              </a:rPr>
              <a:t>9,9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0648" y="2011680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1F4EC"/>
                </a:solidFill>
                <a:latin typeface="Segoe UI"/>
              </a:rPr>
              <a:t>секунды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487168"/>
            <a:ext cx="2103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394"/>
                </a:solidFill>
                <a:latin typeface="Segoe UI"/>
              </a:rPr>
              <a:t>полный быстрый прогон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1783080"/>
            <a:ext cx="2505456" cy="1261872"/>
          </a:xfrm>
          <a:prstGeom prst="roundRect">
            <a:avLst>
              <a:gd name="adj" fmla="val 6000"/>
            </a:avLst>
          </a:prstGeom>
          <a:solidFill>
            <a:srgbClr val="10140F"/>
          </a:solidFill>
          <a:ln w="12700">
            <a:solidFill>
              <a:srgbClr val="2B3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16568" y="1920240"/>
            <a:ext cx="1371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C8F560"/>
                </a:solidFill>
                <a:latin typeface="Segoe UI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13848" y="2011680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1F4EC"/>
                </a:solidFill>
                <a:latin typeface="Segoe UI"/>
              </a:rPr>
              <a:t>ошибок JS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16568" y="2487168"/>
            <a:ext cx="2103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394"/>
                </a:solidFill>
                <a:latin typeface="Segoe UI"/>
              </a:rPr>
              <a:t>в консоли UI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33756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1F4EC"/>
                </a:solidFill>
                <a:latin typeface="Segoe UI"/>
              </a:rPr>
              <a:t>Что покрыто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730752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>
                <a:solidFill>
                  <a:srgbClr val="9AA394"/>
                </a:solidFill>
                <a:latin typeface="Segoe UI"/>
              </a:rPr>
              <a:t>—  текст, леммы, TextRank, главы, VTT/SRT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>
                <a:solidFill>
                  <a:srgbClr val="9AA394"/>
                </a:solidFill>
                <a:latin typeface="Segoe UI"/>
              </a:rPr>
              <a:t>—  все HTTP-методы и коды ошибок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>
                <a:solidFill>
                  <a:srgbClr val="9AA394"/>
                </a:solidFill>
                <a:latin typeface="Segoe UI"/>
              </a:rPr>
              <a:t>—  гибридный поиск, MMR, сниппеты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>
                <a:solidFill>
                  <a:srgbClr val="9AA394"/>
                </a:solidFill>
                <a:latin typeface="Segoe UI"/>
              </a:rPr>
              <a:t>—  пайплайн с моками и E2E загрузка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>
                <a:solidFill>
                  <a:srgbClr val="9AA394"/>
                </a:solidFill>
                <a:latin typeface="Segoe UI"/>
              </a:rPr>
              <a:t>—  ASR-обёртка, эмбеддинги, Q&amp;A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33756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1F4EC"/>
                </a:solidFill>
                <a:latin typeface="Segoe UI"/>
              </a:rPr>
              <a:t>Найденные и исправленные баги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730752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>
                <a:solidFill>
                  <a:srgbClr val="9AA394"/>
                </a:solidFill>
                <a:latin typeface="Segoe UI"/>
              </a:rPr>
              <a:t>—  кириллица в Content-Disposition экспорта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>
                <a:solidFill>
                  <a:srgbClr val="9AA394"/>
                </a:solidFill>
                <a:latin typeface="Segoe UI"/>
              </a:rPr>
              <a:t>—  ложные «висячие союзы» на «и»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>
                <a:solidFill>
                  <a:srgbClr val="9AA394"/>
                </a:solidFill>
                <a:latin typeface="Segoe UI"/>
              </a:rPr>
              <a:t>—  пробелы перед пунктуацией в ASR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>
                <a:solidFill>
                  <a:srgbClr val="9AA394"/>
                </a:solidFill>
                <a:latin typeface="Segoe UI"/>
              </a:rPr>
              <a:t>—  подсветка словоформ в сниппетах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>
                <a:solidFill>
                  <a:srgbClr val="9AA394"/>
                </a:solidFill>
                <a:latin typeface="Segoe UI"/>
              </a:rPr>
              <a:t>—  горизонтальный скролл на мобильном поиске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559552"/>
            <a:ext cx="10817352" cy="502920"/>
          </a:xfrm>
          <a:prstGeom prst="roundRect">
            <a:avLst>
              <a:gd name="adj" fmla="val 10000"/>
            </a:avLst>
          </a:prstGeom>
          <a:solidFill>
            <a:srgbClr val="151A13"/>
          </a:solidFill>
          <a:ln w="12700">
            <a:solidFill>
              <a:srgbClr val="2B3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669280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C8F560"/>
                </a:solidFill>
                <a:latin typeface="Consolas"/>
              </a:rPr>
              <a:t>python -m pytest -q  →  156 passed, 1 skipped in 9.94s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6446520"/>
            <a:ext cx="10817352" cy="9144"/>
          </a:xfrm>
          <a:prstGeom prst="rect">
            <a:avLst/>
          </a:prstGeom>
          <a:solidFill>
            <a:srgbClr val="2B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651052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F786A"/>
                </a:solidFill>
                <a:latin typeface="Segoe UI"/>
              </a:rPr>
              <a:t>Вектор · семантический поиск по видеолекциям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6510528"/>
            <a:ext cx="126187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F786A"/>
                </a:solidFill>
                <a:latin typeface="Segoe U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9601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C8F560"/>
                </a:solidFill>
                <a:latin typeface="Segoe UI"/>
              </a:rPr>
              <a:t>ДИАГНОСТИКА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100" b="1" i="0">
                <a:solidFill>
                  <a:srgbClr val="F1F4EC"/>
                </a:solidFill>
                <a:latin typeface="Segoe UI"/>
              </a:rPr>
              <a:t>Видно, что работает, а что требует внимания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61872"/>
            <a:ext cx="104241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9AA394"/>
                </a:solidFill>
                <a:latin typeface="Segoe UI"/>
              </a:rPr>
              <a:t>Health-check БД, ffmpeg, ASR, эмбеддингов, LLM и очереди — на одном экране.</a:t>
            </a:r>
          </a:p>
        </p:txBody>
      </p:sp>
      <p:pic>
        <p:nvPicPr>
          <p:cNvPr id="5" name="Picture 4" descr="08-diagno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691640"/>
            <a:ext cx="7315200" cy="457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60520" y="1691640"/>
            <a:ext cx="7315200" cy="4572000"/>
          </a:xfrm>
          <a:prstGeom prst="rect">
            <a:avLst/>
          </a:prstGeom>
          <a:noFill/>
          <a:ln w="9525">
            <a:solidFill>
              <a:srgbClr val="2B3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60520" y="6336792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F786A"/>
                </a:solidFill>
                <a:latin typeface="Segoe UI"/>
              </a:rPr>
              <a:t>Диагностика: статус систем, модели, диск, предупреждения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1F4EC"/>
                </a:solidFill>
                <a:latin typeface="Segoe UI"/>
              </a:rPr>
              <a:t>Почему это важно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4028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>
                <a:solidFill>
                  <a:srgbClr val="9AA394"/>
                </a:solidFill>
                <a:latin typeface="Segoe UI"/>
              </a:rPr>
              <a:t>—  видно, скачаны ли модели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>
                <a:solidFill>
                  <a:srgbClr val="9AA394"/>
                </a:solidFill>
                <a:latin typeface="Segoe UI"/>
              </a:rPr>
              <a:t>—  видно, найден ли ffmpeg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>
                <a:solidFill>
                  <a:srgbClr val="9AA394"/>
                </a:solidFill>
                <a:latin typeface="Segoe UI"/>
              </a:rPr>
              <a:t>—  прогресс очереди и активные задачи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>
                <a:solidFill>
                  <a:srgbClr val="9AA394"/>
                </a:solidFill>
                <a:latin typeface="Segoe UI"/>
              </a:rPr>
              <a:t>—  предупреждения с человеческим текстом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>
                <a:solidFill>
                  <a:srgbClr val="9AA394"/>
                </a:solidFill>
                <a:latin typeface="Segoe UI"/>
              </a:rPr>
              <a:t>—  статистика: часы, фрагменты, запросы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526280"/>
            <a:ext cx="3246120" cy="822960"/>
          </a:xfrm>
          <a:prstGeom prst="roundRect">
            <a:avLst>
              <a:gd name="adj" fmla="val 8000"/>
            </a:avLst>
          </a:prstGeom>
          <a:solidFill>
            <a:srgbClr val="10140F"/>
          </a:solidFill>
          <a:ln w="12700">
            <a:solidFill>
              <a:srgbClr val="2B3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663440"/>
            <a:ext cx="2880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9AA394"/>
                </a:solidFill>
                <a:latin typeface="Segoe UI"/>
              </a:rPr>
              <a:t>Офлайн-режим: после первой загрузки моделей сеть не требуется.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6446520"/>
            <a:ext cx="10817352" cy="9144"/>
          </a:xfrm>
          <a:prstGeom prst="rect">
            <a:avLst/>
          </a:prstGeom>
          <a:solidFill>
            <a:srgbClr val="2B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51052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F786A"/>
                </a:solidFill>
                <a:latin typeface="Segoe UI"/>
              </a:rPr>
              <a:t>Вектор · семантический поиск по видеолекциям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510528"/>
            <a:ext cx="126187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F786A"/>
                </a:solidFill>
                <a:latin typeface="Segoe U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9601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C8F560"/>
                </a:solidFill>
                <a:latin typeface="Segoe UI"/>
              </a:rPr>
              <a:t>МОБИЛЬНАЯ ВЁРСТКА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100" b="1" i="0">
                <a:solidFill>
                  <a:srgbClr val="F1F4EC"/>
                </a:solidFill>
                <a:latin typeface="Segoe UI"/>
              </a:rPr>
              <a:t>Тот же поиск — в кармане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61872"/>
            <a:ext cx="104241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9AA394"/>
                </a:solidFill>
                <a:latin typeface="Segoe UI"/>
              </a:rPr>
              <a:t>Отдельные раскладки для 390 px: библиотека, лекция и результаты без горизонтального скролла.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1700784"/>
            <a:ext cx="2084831" cy="4261104"/>
          </a:xfrm>
          <a:prstGeom prst="roundRect">
            <a:avLst>
              <a:gd name="adj" fmla="val 10000"/>
            </a:avLst>
          </a:prstGeom>
          <a:solidFill>
            <a:srgbClr val="151A13"/>
          </a:solidFill>
          <a:ln w="12700">
            <a:solidFill>
              <a:srgbClr val="2B3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9-mobile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73936"/>
            <a:ext cx="1901388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6053328"/>
            <a:ext cx="19385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9AA394"/>
                </a:solidFill>
                <a:latin typeface="Segoe UI"/>
              </a:rPr>
              <a:t>Библиотека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44368" y="1700784"/>
            <a:ext cx="2084831" cy="4261104"/>
          </a:xfrm>
          <a:prstGeom prst="roundRect">
            <a:avLst>
              <a:gd name="adj" fmla="val 10000"/>
            </a:avLst>
          </a:prstGeom>
          <a:solidFill>
            <a:srgbClr val="151A13"/>
          </a:solidFill>
          <a:ln w="12700">
            <a:solidFill>
              <a:srgbClr val="2B3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0-mobile-l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1773936"/>
            <a:ext cx="1901388" cy="411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017520" y="6053328"/>
            <a:ext cx="19385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9AA394"/>
                </a:solidFill>
                <a:latin typeface="Segoe UI"/>
              </a:rPr>
              <a:t>Лекция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76088" y="1700784"/>
            <a:ext cx="2084831" cy="4261104"/>
          </a:xfrm>
          <a:prstGeom prst="roundRect">
            <a:avLst>
              <a:gd name="adj" fmla="val 10000"/>
            </a:avLst>
          </a:prstGeom>
          <a:solidFill>
            <a:srgbClr val="151A13"/>
          </a:solidFill>
          <a:ln w="12700">
            <a:solidFill>
              <a:srgbClr val="2B3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1-mobile-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1773936"/>
            <a:ext cx="1901388" cy="411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349240" y="6053328"/>
            <a:ext cx="19385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9AA394"/>
                </a:solidFill>
                <a:latin typeface="Segoe UI"/>
              </a:rPr>
              <a:t>Поиск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181051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1F4EC"/>
                </a:solidFill>
                <a:latin typeface="Segoe UI"/>
              </a:rPr>
              <a:t>Проверено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224028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>
                <a:solidFill>
                  <a:srgbClr val="9AA394"/>
                </a:solidFill>
                <a:latin typeface="Segoe UI"/>
              </a:rPr>
              <a:t>—  390 × 844, без горизонтального скролла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>
                <a:solidFill>
                  <a:srgbClr val="9AA394"/>
                </a:solidFill>
                <a:latin typeface="Segoe UI"/>
              </a:rPr>
              <a:t>—  плеер и расшифровка перестраиваются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>
                <a:solidFill>
                  <a:srgbClr val="9AA394"/>
                </a:solidFill>
                <a:latin typeface="Segoe UI"/>
              </a:rPr>
              <a:t>—  фильтры и результаты читаемы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>
                <a:solidFill>
                  <a:srgbClr val="9AA394"/>
                </a:solidFill>
                <a:latin typeface="Segoe UI"/>
              </a:rPr>
              <a:t>—  меню и поиск доступны с телефона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4160520"/>
            <a:ext cx="3383280" cy="1234440"/>
          </a:xfrm>
          <a:prstGeom prst="roundRect">
            <a:avLst>
              <a:gd name="adj" fmla="val 8000"/>
            </a:avLst>
          </a:prstGeom>
          <a:solidFill>
            <a:srgbClr val="10140F"/>
          </a:solidFill>
          <a:ln w="12700">
            <a:solidFill>
              <a:srgbClr val="2B3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4315968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9AA394"/>
                </a:solidFill>
                <a:latin typeface="Segoe UI"/>
              </a:rPr>
              <a:t>Мобильный поиск был с горизонтальным скроллом. Исправлено: minmax(0, 1fr) и min-width: 0 в гридах.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6446520"/>
            <a:ext cx="10817352" cy="9144"/>
          </a:xfrm>
          <a:prstGeom prst="rect">
            <a:avLst/>
          </a:prstGeom>
          <a:solidFill>
            <a:srgbClr val="2B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651052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F786A"/>
                </a:solidFill>
                <a:latin typeface="Segoe UI"/>
              </a:rPr>
              <a:t>Вектор · семантический поиск по видеолекциям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6510528"/>
            <a:ext cx="126187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F786A"/>
                </a:solidFill>
                <a:latin typeface="Segoe U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F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8F560"/>
                </a:solidFill>
                <a:latin typeface="Segoe UI"/>
              </a:rPr>
              <a:t>ИТОГИ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841248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1F4EC"/>
                </a:solidFill>
                <a:latin typeface="Segoe UI"/>
              </a:rPr>
              <a:t>Что уже работает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8F560"/>
                </a:solidFill>
                <a:latin typeface="Segoe U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783080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F1F4EC"/>
                </a:solidFill>
                <a:latin typeface="Segoe UI"/>
              </a:rPr>
              <a:t>Загрузка MP4 / WebM и ссылок → ready без ручных действий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95144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8F560"/>
                </a:solidFill>
                <a:latin typeface="Segoe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95144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F1F4EC"/>
                </a:solidFill>
                <a:latin typeface="Segoe UI"/>
              </a:rPr>
              <a:t>Транскрипт с таймкодами, клик по реплике перематывает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0720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8F560"/>
                </a:solidFill>
                <a:latin typeface="Segoe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807208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F1F4EC"/>
                </a:solidFill>
                <a:latin typeface="Segoe UI"/>
              </a:rPr>
              <a:t>Семантический поиск находит фрагмент без точных слов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1927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8F560"/>
                </a:solidFill>
                <a:latin typeface="Segoe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319272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F1F4EC"/>
                </a:solidFill>
                <a:latin typeface="Segoe UI"/>
              </a:rPr>
              <a:t>Конспект, главы и термины появляются автоматически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3133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8F560"/>
                </a:solidFill>
                <a:latin typeface="Segoe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831336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F1F4EC"/>
                </a:solidFill>
                <a:latin typeface="Segoe UI"/>
              </a:rPr>
              <a:t>Поиск по двум лекциям, Q&amp;A с цитатами, экспорт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691640"/>
            <a:ext cx="3383280" cy="2212848"/>
          </a:xfrm>
          <a:prstGeom prst="roundRect">
            <a:avLst>
              <a:gd name="adj" fmla="val 8000"/>
            </a:avLst>
          </a:prstGeom>
          <a:solidFill>
            <a:srgbClr val="10140F"/>
          </a:solidFill>
          <a:ln w="12700">
            <a:solidFill>
              <a:srgbClr val="2B3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84708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C8F560"/>
                </a:solidFill>
                <a:latin typeface="Segoe UI"/>
              </a:rPr>
              <a:t>ЗАПУСК ОДНОЙ КОМАНДОЙ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19456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1F4EC"/>
                </a:solidFill>
                <a:latin typeface="Consolas"/>
              </a:rPr>
              <a:t>.\run.ps1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542032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1F4EC"/>
                </a:solidFill>
                <a:latin typeface="Consolas"/>
              </a:rPr>
              <a:t>./run.sh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907792"/>
            <a:ext cx="29992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9AA394"/>
                </a:solidFill>
                <a:latin typeface="Segoe UI"/>
              </a:rPr>
              <a:t>venv → зависимости → ffmpeg → модели → демо → сервер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416052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1F4EC"/>
                </a:solidFill>
                <a:latin typeface="Segoe UI"/>
              </a:rPr>
              <a:t>Дальше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8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50">
                <a:solidFill>
                  <a:srgbClr val="9AA394"/>
                </a:solidFill>
                <a:latin typeface="Segoe UI"/>
              </a:rPr>
              <a:t>—  GPU-ASR и несколько воркеров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50">
                <a:solidFill>
                  <a:srgbClr val="9AA394"/>
                </a:solidFill>
                <a:latin typeface="Segoe UI"/>
              </a:rPr>
              <a:t>—  авторизация и курсы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50">
                <a:solidFill>
                  <a:srgbClr val="9AA394"/>
                </a:solidFill>
                <a:latin typeface="Segoe UI"/>
              </a:rPr>
              <a:t>—  аналитика по вопросам студентов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50">
                <a:solidFill>
                  <a:srgbClr val="9AA394"/>
                </a:solidFill>
                <a:latin typeface="Segoe UI"/>
              </a:rPr>
              <a:t>—  экспорт в LMS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074920"/>
            <a:ext cx="6858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9AA394"/>
                </a:solidFill>
                <a:latin typeface="Cambria"/>
              </a:rPr>
              <a:t>Вектор — не ещё один видеоплеер. Это слой понимания, который превращает часовую запись в управляемый конспект и точку входа в нужный момент.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614476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F786A"/>
                </a:solidFill>
                <a:latin typeface="Segoe UI"/>
              </a:rPr>
              <a:t>Киберрывок · Осень 2026 · Python, FastAPI, SQLite, faster-whisper, model2vec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